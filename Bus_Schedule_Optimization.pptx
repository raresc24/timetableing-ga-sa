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1216152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Schedule Optimization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 and Hybrid GA + Simulated Annealing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Metaheuristics — Final Project (Week 11 + Week 12)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Cotfas Rares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Cozma Dacian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Public Transport Timetabling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each bus depart? — 06:00 to 22:00, line 429A, real data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Cotfas Rares &amp; Cozma Dacian — Metaheuristics Final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departure times of 200 buses across a 16-hour day so that: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wait less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 are not overcrowded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headways stay regular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is fully covered (06:00 → 22:00)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9377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[d1, d2, ..., d200]   — minutes after 06:00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3492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repair operator sorts and enforces a 2-minute minimum gap so every candidate is feasible.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5212080" cy="4572000"/>
          </a:xfrm>
          <a:prstGeom prst="rect">
            <a:avLst/>
          </a:prstGeom>
          <a:solidFill>
            <a:srgbClr val="F2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463040"/>
            <a:ext cx="73152" cy="4572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used in the model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201168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 day: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06:00 – 22:00  (960 minutes)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Fleet size:   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N_BUSES = 200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 capacity: 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seats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Min. safety gap: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minutes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 max gap: 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minutes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Dataset:      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hourly_transportation_202001.csv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Filter:       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01.01.2020 + line 429A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Real Passenger Demand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tap-in counts spread evenly across 60 minutes per hour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Cotfas Rares &amp; Cozma Dacian — Metaheuristics Final Project</a:t>
            </a:r>
            <a:endParaRPr lang="en-US" sz="900" dirty="0"/>
          </a:p>
        </p:txBody>
      </p:sp>
      <p:pic>
        <p:nvPicPr>
          <p:cNvPr id="6" name="Image 0" descr="/sessions/determined-inspiring-feynman/mnt/outputs/figures/cell6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463040"/>
            <a:ext cx="80467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4630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city transport CSV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(line 429A, 01.01.2020).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transition_hour, distribute each hourly total uniformly over 60 minutes → minute-level demand vector of length 961.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5029200"/>
            <a:ext cx="2651760" cy="128016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5029200"/>
            <a:ext cx="265176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5212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~11 000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48640" y="5852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(line 429A)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83280" y="5029200"/>
            <a:ext cx="2651760" cy="128016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83280" y="5029200"/>
            <a:ext cx="265176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5212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3383280" y="5852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 – 22:00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5029200"/>
            <a:ext cx="2651760" cy="128016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5029200"/>
            <a:ext cx="265176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5212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217920" y="5852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vehicles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052560" y="5029200"/>
            <a:ext cx="2651760" cy="128016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52560" y="5029200"/>
            <a:ext cx="265176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52560" y="5212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9052560" y="5852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per bus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practical costs combined into one scalar to minimize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Cotfas Rares &amp; Cozma Dacian — Metaheuristics Final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8229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 = waiting + crowding + regularity + coverage + max_gap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5440680" cy="19202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60320"/>
            <a:ext cx="91440" cy="1920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51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· h /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6118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wait approximation per interval (h = headway, D = demand integrated over the interval).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560320"/>
            <a:ext cx="5440680" cy="19202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2560320"/>
            <a:ext cx="91440" cy="1920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651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· max(0, D − 55)²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36118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penalty when passenger demand between two buses exceeds capacity.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5440680" cy="19202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663440"/>
            <a:ext cx="91440" cy="1920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754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5166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Var(headways)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7150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of operational headways; punishes uneven spacing.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4663440"/>
            <a:ext cx="5440680" cy="19202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4663440"/>
            <a:ext cx="91440" cy="19202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754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+ max gap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5166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25·(s₀^1.35 + ...) + 80·max(0, h−45)²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57150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uncovered start/end of day and any gap &gt; 45 min.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Metaheuristics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required methods (GA, Hybrid GA + SA) and three comparators (PSO, WOA, POA)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Cotfas Rares &amp; Cozma Dacian — Metaheuristics Final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148840" cy="46634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21488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606040"/>
            <a:ext cx="1874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select (k=3)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+ single-point crossover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mutation σ=16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Elitism (top 4)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25496" y="1554480"/>
            <a:ext cx="2148840" cy="46634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25496" y="1554480"/>
            <a:ext cx="214884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16936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GA + SA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16936" y="21945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90088" y="2606040"/>
            <a:ext cx="1874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GA to completion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best schedule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with Metropolis SA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T = 220 · 0.99^t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02352" y="1554480"/>
            <a:ext cx="2148840" cy="46634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02352" y="1554480"/>
            <a:ext cx="214884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93792" y="21945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66944" y="2606040"/>
            <a:ext cx="1874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with velocity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+ global best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w=0.72, c1=c2=1.45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particles × 90 iters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79208" y="1554480"/>
            <a:ext cx="2148840" cy="46634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79208" y="1554480"/>
            <a:ext cx="21488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0648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70648" y="21945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43800" y="2606040"/>
            <a:ext cx="1874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Encircle / spiral around best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a: 2 → 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Bubble-net hunting analogy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whales × 90 iters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56064" y="1554480"/>
            <a:ext cx="2148840" cy="46634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56064" y="1554480"/>
            <a:ext cx="21488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47504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47504" y="21945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820656" y="2606040"/>
            <a:ext cx="1874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vs. exploitation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by progress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 + stalk + jump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pumas × 90 iters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Validation by Grid Search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GA combinations + 27 SA combinations, then 30 independent runs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Cotfas Rares &amp; Cozma Dacian — Metaheuristics Final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265176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91440" cy="2651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grid search winner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population = 50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generations = 100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mutation_rate = 0.1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crossover_rate = 0.9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score: 1 627 861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runtime: ~11.3 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486400" cy="265176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463040"/>
            <a:ext cx="91440" cy="2651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grid search winner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192024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 = 1000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 = 200.0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cooling = 0.99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score: 913 543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score: 854 426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added runtime: ~2.2 s</a:t>
            </a:r>
            <a:endParaRPr lang="en-US" sz="1300" dirty="0"/>
          </a:p>
        </p:txBody>
      </p:sp>
      <p:pic>
        <p:nvPicPr>
          <p:cNvPr id="14" name="Image 0" descr="/sessions/determined-inspiring-feynman/mnt/outputs/figures/cell17_fi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297680"/>
            <a:ext cx="4572000" cy="2468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448056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30-run statistical comparison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GA: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1.70M  (min 1.54M)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1.00M  (min 0.87M)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distributions do not overlap.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778240" y="52120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Hybrid's worst run beats Simple GA's best run.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— 5-seed Benchmark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algorithms with the same 5 seeds [101, 202, 303, 404, 505]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Cotfas Rares &amp; Cozma Dacian — Metaheuristics Final Project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265176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1737360"/>
                <a:gridCol w="1737360"/>
                <a:gridCol w="1371600"/>
                <a:gridCol w="17373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runtime 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max headway (min)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GA + 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941 403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1 022 518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72 806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1 536 486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1 659 049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87 284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1 603 798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1 690 278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67 633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1 743 476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1 788 697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48 323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3 231 642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3 596 147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261 872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 0" descr="/sessions/determined-inspiring-feynman/mnt/outputs/figures/cell20_fi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434840"/>
            <a:ext cx="6583680" cy="19659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178040" y="4434840"/>
            <a:ext cx="4617720" cy="19659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269480" y="4526280"/>
            <a:ext cx="44348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GA + SA wins on every metric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~41% better mean score than Simple GA, lowest max headway, lowest variance.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&amp; Best Timetable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GA + SA — best schedule produced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Cotfas Rares &amp; Cozma Dacian — Metaheuristics Final Project</a:t>
            </a:r>
            <a:endParaRPr lang="en-US" sz="900" dirty="0"/>
          </a:p>
        </p:txBody>
      </p:sp>
      <p:pic>
        <p:nvPicPr>
          <p:cNvPr id="6" name="Image 0" descr="/sessions/determined-inspiring-feynman/mnt/outputs/figures/cell21_fig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035040" cy="3017520"/>
          </a:xfrm>
          <a:prstGeom prst="rect">
            <a:avLst/>
          </a:prstGeom>
        </p:spPr>
      </p:pic>
      <p:pic>
        <p:nvPicPr>
          <p:cNvPr id="7" name="Image 1" descr="/sessions/determined-inspiring-feynman/mnt/outputs/figures/cell23_fig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4937760" cy="3017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5262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— Hybrid drops sharply at the last point (SA refinement).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766560" y="4526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Departures align with the real demand peaks.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5074920"/>
            <a:ext cx="2697480" cy="141732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5074920"/>
            <a:ext cx="269748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52578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941 403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548640" y="5989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objective (Hybrid GA + SA)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83280" y="5074920"/>
            <a:ext cx="2697480" cy="141732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383280" y="5074920"/>
            <a:ext cx="269748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83280" y="52578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4.82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3383280" y="5989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headway (min)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5074920"/>
            <a:ext cx="2697480" cy="141732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5074920"/>
            <a:ext cx="269748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17920" y="52578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7.68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6217920" y="5989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headway (min)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006840" y="5074920"/>
            <a:ext cx="2697480" cy="141732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006840" y="5074920"/>
            <a:ext cx="2697480" cy="7315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006840" y="52578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 → 22:00</a:t>
            </a:r>
            <a:endParaRPr lang="en-US" sz="2800" dirty="0"/>
          </a:p>
        </p:txBody>
      </p:sp>
      <p:sp>
        <p:nvSpPr>
          <p:cNvPr id="25" name="Text 21"/>
          <p:cNvSpPr/>
          <p:nvPr/>
        </p:nvSpPr>
        <p:spPr>
          <a:xfrm>
            <a:off x="9006840" y="5989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→ last departure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Conclusions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Cotfas Rares &amp; Cozma Dacian — Metaheuristics Final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Hybrid wins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does the global search — strong recombination across a 200-D space.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polishes the best schedule by shifting single departures by a few minutes.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guaranteed ≤ the GA score and in practice ~40% better on the mean.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/ WOA / POA: continuous-swarm — less suited to a sorted, discrete-feeling search space.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87452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fleet size based on daily demand.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intersecting routes simultaneously.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shifts, depot capacity, vehicle circulation.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transfer synchronization (bus ↔ metro ↔ tram).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983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5394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GA + SA produces a timetable with mean headway 4.82 min, max headway 7.68 min, full 06:00 → 22:00 coverage, 200 buses, on real demand data.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6152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Suanpang, P. et al. (2022). Tourism Service Scheduling in Smart City Based on Hybrid GA+SA. Sustainability, 14(23), 16293.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Fatyanosa, T. N. &amp; Mahmudy, W. F. (2018). Hybrid GA and SA for multi-trip vehicle routing problem with time windows. IAES.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hourly_transportation_202001.csv — line 429A, 01.01.2020.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Cotfas Rares &amp; Cozma Dacian — Metaheuristics, Final 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 Schedule Optimization — Metaheuristics Final Project</dc:title>
  <dc:subject>PptxGenJS Presentation</dc:subject>
  <dc:creator>Cotfas Rares &amp; Cozma Dacian</dc:creator>
  <cp:lastModifiedBy>Cotfas Rares &amp; Cozma Dacian</cp:lastModifiedBy>
  <cp:revision>1</cp:revision>
  <dcterms:created xsi:type="dcterms:W3CDTF">2026-05-27T13:08:04Z</dcterms:created>
  <dcterms:modified xsi:type="dcterms:W3CDTF">2026-05-27T13:08:04Z</dcterms:modified>
</cp:coreProperties>
</file>